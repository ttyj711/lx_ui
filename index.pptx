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D8B7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754880" y="2263140"/>
            <a:ext cx="2651760" cy="320040"/>
          </a:xfrm>
          <a:prstGeom prst="roundRect">
            <a:avLst>
              <a:gd name="adj" fmla="val 34285"/>
            </a:avLst>
          </a:prstGeom>
          <a:solidFill>
            <a:srgbClr val="1962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754880" y="2308860"/>
            <a:ext cx="26517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PingFang SC"/>
                <a:ea typeface="PingFang SC"/>
              </a:rPr>
              <a:t>📱 移动端 APP 原型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2857500"/>
            <a:ext cx="1109441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600" b="1" i="0">
                <a:solidFill>
                  <a:srgbClr val="FFFFFF"/>
                </a:solidFill>
                <a:latin typeface="PingFang SC"/>
                <a:ea typeface="PingFang SC"/>
              </a:rPr>
              <a:t>旅途账本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286000" y="3771900"/>
            <a:ext cx="75895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0">
                <a:solidFill>
                  <a:srgbClr val="E8F3F0"/>
                </a:solidFill>
                <a:latin typeface="PingFang SC"/>
                <a:ea typeface="PingFang SC"/>
              </a:rPr>
              <a:t>多人旅行费用记录与分摊 APP — 快速记账、智能分摊、旅行总结,让每一段旅程的账目清清楚楚。</a:t>
            </a:r>
          </a:p>
        </p:txBody>
      </p:sp>
      <p:sp>
        <p:nvSpPr>
          <p:cNvPr id="6" name="footer"/>
          <p:cNvSpPr txBox="1"/>
          <p:nvPr/>
        </p:nvSpPr>
        <p:spPr>
          <a:xfrm>
            <a:off x="548640" y="6263640"/>
            <a:ext cx="11094415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A0A4AE"/>
                </a:solidFill>
                <a:latin typeface="PingFang SC"/>
                <a:ea typeface="PingFang SC"/>
              </a:rPr>
              <a:t>旅途账本 · Open Design 原型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57200"/>
            <a:ext cx="1109441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 i="0">
                <a:solidFill>
                  <a:srgbClr val="1D1D1F"/>
                </a:solidFill>
                <a:latin typeface="PingFang SC"/>
                <a:ea typeface="PingFang SC"/>
              </a:rPr>
              <a:t>核心功能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48640" y="1499616"/>
            <a:ext cx="2567863" cy="219456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1503387" y="1865376"/>
            <a:ext cx="658368" cy="658368"/>
          </a:xfrm>
          <a:prstGeom prst="roundRect">
            <a:avLst>
              <a:gd name="adj" fmla="val 25000"/>
            </a:avLst>
          </a:prstGeom>
          <a:solidFill>
            <a:srgbClr val="E6F3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2688336"/>
            <a:ext cx="2567863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1D1D1F"/>
                </a:solidFill>
                <a:latin typeface="PingFang SC"/>
                <a:ea typeface="PingFang SC"/>
              </a:rPr>
              <a:t>一键记账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3099816"/>
            <a:ext cx="2567863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A0A4AE"/>
                </a:solidFill>
                <a:latin typeface="PingFang SC"/>
                <a:ea typeface="PingFang SC"/>
              </a:rPr>
              <a:t>快速录入消费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390823" y="1499616"/>
            <a:ext cx="2567863" cy="219456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4345571" y="1865376"/>
            <a:ext cx="658368" cy="658368"/>
          </a:xfrm>
          <a:prstGeom prst="roundRect">
            <a:avLst>
              <a:gd name="adj" fmla="val 25000"/>
            </a:avLst>
          </a:prstGeom>
          <a:solidFill>
            <a:srgbClr val="FDF0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390823" y="2688336"/>
            <a:ext cx="2567863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1D1D1F"/>
                </a:solidFill>
                <a:latin typeface="PingFang SC"/>
                <a:ea typeface="PingFang SC"/>
              </a:rPr>
              <a:t>多人分摊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390823" y="3099816"/>
            <a:ext cx="2567863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A0A4AE"/>
                </a:solidFill>
                <a:latin typeface="PingFang SC"/>
                <a:ea typeface="PingFang SC"/>
              </a:rPr>
              <a:t>智能费用分配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33007" y="1499616"/>
            <a:ext cx="2567863" cy="219456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7187755" y="1865376"/>
            <a:ext cx="658368" cy="658368"/>
          </a:xfrm>
          <a:prstGeom prst="roundRect">
            <a:avLst>
              <a:gd name="adj" fmla="val 25000"/>
            </a:avLst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233007" y="2688336"/>
            <a:ext cx="2567863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1D1D1F"/>
                </a:solidFill>
                <a:latin typeface="PingFang SC"/>
                <a:ea typeface="PingFang SC"/>
              </a:rPr>
              <a:t>智能统计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233007" y="3099816"/>
            <a:ext cx="2567863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A0A4AE"/>
                </a:solidFill>
                <a:latin typeface="PingFang SC"/>
                <a:ea typeface="PingFang SC"/>
              </a:rPr>
              <a:t>消费结构分析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075191" y="1499616"/>
            <a:ext cx="2567863" cy="219456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10029939" y="1865376"/>
            <a:ext cx="658368" cy="658368"/>
          </a:xfrm>
          <a:prstGeom prst="roundRect">
            <a:avLst>
              <a:gd name="adj" fmla="val 25000"/>
            </a:avLst>
          </a:prstGeom>
          <a:solidFill>
            <a:srgbClr val="E3F2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075191" y="2688336"/>
            <a:ext cx="2567863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1D1D1F"/>
                </a:solidFill>
                <a:latin typeface="PingFang SC"/>
                <a:ea typeface="PingFang SC"/>
              </a:rPr>
              <a:t>旅行总结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075191" y="3099816"/>
            <a:ext cx="2567863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A0A4AE"/>
                </a:solidFill>
                <a:latin typeface="PingFang SC"/>
                <a:ea typeface="PingFang SC"/>
              </a:rPr>
              <a:t>账单导出分享</a:t>
            </a:r>
          </a:p>
        </p:txBody>
      </p:sp>
      <p:sp>
        <p:nvSpPr>
          <p:cNvPr id="19" name="footer"/>
          <p:cNvSpPr txBox="1"/>
          <p:nvPr/>
        </p:nvSpPr>
        <p:spPr>
          <a:xfrm>
            <a:off x="548640" y="6263640"/>
            <a:ext cx="11094415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A0A4AE"/>
                </a:solidFill>
                <a:latin typeface="PingFang SC"/>
                <a:ea typeface="PingFang SC"/>
              </a:rPr>
              <a:t>旅途账本 · Open Design 原型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57200"/>
            <a:ext cx="1109441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 i="0">
                <a:solidFill>
                  <a:srgbClr val="1D1D1F"/>
                </a:solidFill>
                <a:latin typeface="PingFang SC"/>
                <a:ea typeface="PingFang SC"/>
              </a:rPr>
              <a:t>界面总览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24128"/>
            <a:ext cx="1109441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A0A4AE"/>
                </a:solidFill>
                <a:latin typeface="PingFang SC"/>
                <a:ea typeface="PingFang SC"/>
              </a:rPr>
              <a:t>5个核心界面,覆盖完整记账流程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883664"/>
            <a:ext cx="2072579" cy="3200400"/>
          </a:xfrm>
          <a:prstGeom prst="roundRect">
            <a:avLst>
              <a:gd name="adj" fmla="val 5294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2157984"/>
            <a:ext cx="207257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1D1D1F"/>
                </a:solidFill>
                <a:latin typeface="PingFang SC"/>
                <a:ea typeface="PingFang SC"/>
              </a:rPr>
              <a:t>首页 · 旅程概况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478024"/>
            <a:ext cx="2072579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A0A4AE"/>
                </a:solidFill>
                <a:latin typeface="PingFang SC"/>
                <a:ea typeface="PingFang SC"/>
              </a:rPr>
              <a:t>预算进度、今日消费、通知提醒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804099" y="1883664"/>
            <a:ext cx="2072579" cy="3200400"/>
          </a:xfrm>
          <a:prstGeom prst="roundRect">
            <a:avLst>
              <a:gd name="adj" fmla="val 5294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804099" y="2157984"/>
            <a:ext cx="207257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1D1D1F"/>
                </a:solidFill>
                <a:latin typeface="PingFang SC"/>
                <a:ea typeface="PingFang SC"/>
              </a:rPr>
              <a:t>记一笔 · 快速录入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804099" y="2478024"/>
            <a:ext cx="2072579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A0A4AE"/>
                </a:solidFill>
                <a:latin typeface="PingFang SC"/>
                <a:ea typeface="PingFang SC"/>
              </a:rPr>
              <a:t>分类选择、参与成员、小票上传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59558" y="1883664"/>
            <a:ext cx="2072579" cy="3200400"/>
          </a:xfrm>
          <a:prstGeom prst="roundRect">
            <a:avLst>
              <a:gd name="adj" fmla="val 5294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59558" y="2157984"/>
            <a:ext cx="207257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1D1D1F"/>
                </a:solidFill>
                <a:latin typeface="PingFang SC"/>
                <a:ea typeface="PingFang SC"/>
              </a:rPr>
              <a:t>统计 · 消费分析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59558" y="2478024"/>
            <a:ext cx="2072579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A0A4AE"/>
                </a:solidFill>
                <a:latin typeface="PingFang SC"/>
                <a:ea typeface="PingFang SC"/>
              </a:rPr>
              <a:t>消费结构、每日趋势、人均排行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017" y="1883664"/>
            <a:ext cx="2072579" cy="3200400"/>
          </a:xfrm>
          <a:prstGeom prst="roundRect">
            <a:avLst>
              <a:gd name="adj" fmla="val 5294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315017" y="2157984"/>
            <a:ext cx="207257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1D1D1F"/>
                </a:solidFill>
                <a:latin typeface="PingFang SC"/>
                <a:ea typeface="PingFang SC"/>
              </a:rPr>
              <a:t>总结 · 旅行报告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017" y="2478024"/>
            <a:ext cx="2072579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A0A4AE"/>
                </a:solidFill>
                <a:latin typeface="PingFang SC"/>
                <a:ea typeface="PingFang SC"/>
              </a:rPr>
              <a:t>消费总结、亮点分析、导出分享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570476" y="1883664"/>
            <a:ext cx="2072579" cy="3200400"/>
          </a:xfrm>
          <a:prstGeom prst="roundRect">
            <a:avLst>
              <a:gd name="adj" fmla="val 5294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570476" y="2157984"/>
            <a:ext cx="207257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1D1D1F"/>
                </a:solidFill>
                <a:latin typeface="PingFang SC"/>
                <a:ea typeface="PingFang SC"/>
              </a:rPr>
              <a:t>设置 · 配置中心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570476" y="2478024"/>
            <a:ext cx="2072579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A0A4AE"/>
                </a:solidFill>
                <a:latin typeface="PingFang SC"/>
                <a:ea typeface="PingFang SC"/>
              </a:rPr>
              <a:t>旅程默认、成员分摊、个性化配置</a:t>
            </a:r>
          </a:p>
        </p:txBody>
      </p:sp>
      <p:sp>
        <p:nvSpPr>
          <p:cNvPr id="19" name="footer"/>
          <p:cNvSpPr txBox="1"/>
          <p:nvPr/>
        </p:nvSpPr>
        <p:spPr>
          <a:xfrm>
            <a:off x="548640" y="6263640"/>
            <a:ext cx="11094415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A0A4AE"/>
                </a:solidFill>
                <a:latin typeface="PingFang SC"/>
                <a:ea typeface="PingFang SC"/>
              </a:rPr>
              <a:t>旅途账本 · Open Design 原型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D8B7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560320"/>
            <a:ext cx="1109441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200" b="1" i="0">
                <a:solidFill>
                  <a:srgbClr val="FFFFFF"/>
                </a:solidFill>
                <a:latin typeface="PingFang SC"/>
                <a:ea typeface="PingFang SC"/>
              </a:rPr>
              <a:t>让旅途账目清清楚楚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3474720"/>
            <a:ext cx="1109441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0">
                <a:solidFill>
                  <a:srgbClr val="E8F3F0"/>
                </a:solidFill>
                <a:latin typeface="PingFang SC"/>
                <a:ea typeface="PingFang SC"/>
              </a:rPr>
              <a:t>快速记账 · 智能分摊 · 轻松总结</a:t>
            </a:r>
          </a:p>
        </p:txBody>
      </p:sp>
      <p:sp>
        <p:nvSpPr>
          <p:cNvPr id="4" name="footer"/>
          <p:cNvSpPr txBox="1"/>
          <p:nvPr/>
        </p:nvSpPr>
        <p:spPr>
          <a:xfrm>
            <a:off x="548640" y="6263640"/>
            <a:ext cx="11094415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A0A4AE"/>
                </a:solidFill>
                <a:latin typeface="PingFang SC"/>
                <a:ea typeface="PingFang SC"/>
              </a:rPr>
              <a:t>旅途账本 · Open Design 原型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